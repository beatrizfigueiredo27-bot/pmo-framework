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12191695" cy="73152"/>
          </a:xfrm>
          <a:prstGeom prst="rect">
            <a:avLst/>
          </a:prstGeom>
          <a:solidFill>
            <a:srgbClr val="138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9FD3D1"/>
                </a:solidFill>
                <a:latin typeface="Calibri"/>
              </a:rPr>
              <a:t>[ORGANIZATION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Project Status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 i="0">
                <a:solidFill>
                  <a:srgbClr val="DCE8F2"/>
                </a:solidFill>
                <a:latin typeface="Calibri"/>
              </a:rPr>
              <a:t>[Project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Reporting period: [yyyy-mm-dd] to [yyyy-mm-dd]   •   Report #[nn]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26517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1" i="0">
                <a:solidFill>
                  <a:srgbClr val="9FD3D1"/>
                </a:solidFill>
                <a:latin typeface="Calibri"/>
              </a:rPr>
              <a:t>PROJECT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02936"/>
            <a:ext cx="26517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PRJ-2026-001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4983480"/>
            <a:ext cx="26517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1" i="0">
                <a:solidFill>
                  <a:srgbClr val="9FD3D1"/>
                </a:solidFill>
                <a:latin typeface="Calibri"/>
              </a:rPr>
              <a:t>DOCUMENT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5202936"/>
            <a:ext cx="26517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PRJ-2026-001-PSR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983480"/>
            <a:ext cx="26517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1" i="0">
                <a:solidFill>
                  <a:srgbClr val="9FD3D1"/>
                </a:solidFill>
                <a:latin typeface="Calibri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202936"/>
            <a:ext cx="26517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4983480"/>
            <a:ext cx="26517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1" i="0">
                <a:solidFill>
                  <a:srgbClr val="9FD3D1"/>
                </a:solidFill>
                <a:latin typeface="Calibri"/>
              </a:rPr>
              <a:t>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5202936"/>
            <a:ext cx="26517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23560"/>
            <a:ext cx="26517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1" i="0">
                <a:solidFill>
                  <a:srgbClr val="9FD3D1"/>
                </a:solidFill>
                <a:latin typeface="Calibri"/>
              </a:rPr>
              <a:t>SPONSOR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43016"/>
            <a:ext cx="26517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[Project Sponsor]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623560"/>
            <a:ext cx="26517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1" i="0">
                <a:solidFill>
                  <a:srgbClr val="9FD3D1"/>
                </a:solidFill>
                <a:latin typeface="Calibri"/>
              </a:rPr>
              <a:t>PROJECT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5843016"/>
            <a:ext cx="26517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[Project Manager]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623560"/>
            <a:ext cx="26517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1" i="0">
                <a:solidFill>
                  <a:srgbClr val="9FD3D1"/>
                </a:solidFill>
                <a:latin typeface="Calibri"/>
              </a:rPr>
              <a:t>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843016"/>
            <a:ext cx="26517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Internal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9FB3C8"/>
                </a:solidFill>
                <a:latin typeface="Calibri"/>
              </a:rPr>
              <a:t>PMI Predictive Project Management Toolkit  •  Aligned to the PMBOK® Guide – Eighth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38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8686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DCE8F2"/>
                </a:solidFill>
                <a:latin typeface="Calibri"/>
              </a:rPr>
              <a:t>[Project Name]</a:t>
            </a:r>
          </a:p>
          <a:p>
            <a:pPr algn="r"/>
            <a:r>
              <a:rPr sz="1000" b="0" i="0">
                <a:solidFill>
                  <a:srgbClr val="DCE8F2"/>
                </a:solidFill>
                <a:latin typeface="Calibri"/>
              </a:rPr>
              <a:t>Status date: [yyyy-mm-dd]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1">
                <a:solidFill>
                  <a:srgbClr val="6B7785"/>
                </a:solidFill>
                <a:latin typeface="Calibri"/>
              </a:rPr>
              <a:t>Overall status against baselines using the RAG thresholds defined in the Integrated PMP (doc 02).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B8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 i="0">
                <a:solidFill>
                  <a:srgbClr val="6B7785"/>
                </a:solidFill>
                <a:latin typeface="Calibri"/>
              </a:rPr>
              <a:t>[Organization Name]  •  PRJ-2026-001-PSR  v0.1  •  Classification: 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92240"/>
            <a:ext cx="139903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00" b="1" i="0">
                <a:solidFill>
                  <a:srgbClr val="1F3A5F"/>
                </a:solidFill>
                <a:latin typeface="Calibr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26974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09728" cy="10972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36192"/>
            <a:ext cx="2423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1" i="0">
                <a:solidFill>
                  <a:srgbClr val="6B7785"/>
                </a:solidFill>
                <a:latin typeface="Calibri"/>
              </a:rPr>
              <a:t>OVERALL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83080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2E8B57"/>
                </a:solidFill>
                <a:latin typeface="Calibri"/>
              </a:rPr>
              <a:t>Green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94560"/>
            <a:ext cx="2423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6B7785"/>
                </a:solidFill>
                <a:latin typeface="Calibri"/>
              </a:rPr>
              <a:t>[One-line rationale]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463040"/>
            <a:ext cx="26974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1463040"/>
            <a:ext cx="109728" cy="10972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536192"/>
            <a:ext cx="2423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1" i="0">
                <a:solidFill>
                  <a:srgbClr val="6B7785"/>
                </a:solidFill>
                <a:latin typeface="Calibri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1783080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2E8B57"/>
                </a:solidFill>
                <a:latin typeface="Calibri"/>
              </a:rPr>
              <a:t>Green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194560"/>
            <a:ext cx="2423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6B7785"/>
                </a:solidFill>
                <a:latin typeface="Calibri"/>
              </a:rPr>
              <a:t>No unapproved change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463040"/>
            <a:ext cx="26974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1463040"/>
            <a:ext cx="109728" cy="1097280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536192"/>
            <a:ext cx="2423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1" i="0">
                <a:solidFill>
                  <a:srgbClr val="6B7785"/>
                </a:solidFill>
                <a:latin typeface="Calibri"/>
              </a:rPr>
              <a:t>SCHEDULE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783080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E0A100"/>
                </a:solidFill>
                <a:latin typeface="Calibri"/>
              </a:rPr>
              <a:t>Amber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194560"/>
            <a:ext cx="2423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6B7785"/>
                </a:solidFill>
                <a:latin typeface="Calibri"/>
              </a:rPr>
              <a:t>SPI 0.93; milestone M3 +6 wd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463040"/>
            <a:ext cx="26974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61120" y="1463040"/>
            <a:ext cx="109728" cy="10972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1536192"/>
            <a:ext cx="2423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1" i="0">
                <a:solidFill>
                  <a:srgbClr val="6B7785"/>
                </a:solidFill>
                <a:latin typeface="Calibri"/>
              </a:rPr>
              <a:t>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783080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2E8B57"/>
                </a:solidFill>
                <a:latin typeface="Calibri"/>
              </a:rPr>
              <a:t>Green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194560"/>
            <a:ext cx="2423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6B7785"/>
                </a:solidFill>
                <a:latin typeface="Calibri"/>
              </a:rPr>
              <a:t>CPI 1.02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697480"/>
            <a:ext cx="26974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2697480"/>
            <a:ext cx="109728" cy="1097280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2770632"/>
            <a:ext cx="2423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1" i="0">
                <a:solidFill>
                  <a:srgbClr val="6B7785"/>
                </a:solidFill>
                <a:latin typeface="Calibri"/>
              </a:rPr>
              <a:t>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017520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E0A100"/>
                </a:solidFill>
                <a:latin typeface="Calibri"/>
              </a:rPr>
              <a:t>Amber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429000"/>
            <a:ext cx="2423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6B7785"/>
                </a:solidFill>
                <a:latin typeface="Calibri"/>
              </a:rPr>
              <a:t>1 critical risk with plan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1840" y="2697480"/>
            <a:ext cx="26974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91840" y="2697480"/>
            <a:ext cx="109728" cy="10972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0" y="2770632"/>
            <a:ext cx="2423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1" i="0">
                <a:solidFill>
                  <a:srgbClr val="6B7785"/>
                </a:solidFill>
                <a:latin typeface="Calibri"/>
              </a:rPr>
              <a:t>QUALITY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3017520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2E8B57"/>
                </a:solidFill>
                <a:latin typeface="Calibri"/>
              </a:rPr>
              <a:t>Green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3429000"/>
            <a:ext cx="2423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6B7785"/>
                </a:solidFill>
                <a:latin typeface="Calibri"/>
              </a:rPr>
              <a:t>All criteria met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2697480"/>
            <a:ext cx="26974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80" y="2697480"/>
            <a:ext cx="109728" cy="10972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2770632"/>
            <a:ext cx="2423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1" i="0">
                <a:solidFill>
                  <a:srgbClr val="6B7785"/>
                </a:solidFill>
                <a:latin typeface="Calibri"/>
              </a:rPr>
              <a:t>RESOURCES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3017520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2E8B57"/>
                </a:solidFill>
                <a:latin typeface="Calibri"/>
              </a:rPr>
              <a:t>Green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3429000"/>
            <a:ext cx="2423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6B7785"/>
                </a:solidFill>
                <a:latin typeface="Calibri"/>
              </a:rPr>
              <a:t>Fully staffed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61120" y="2697480"/>
            <a:ext cx="26974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61120" y="2697480"/>
            <a:ext cx="109728" cy="10972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0" y="2770632"/>
            <a:ext cx="2423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1" i="0">
                <a:solidFill>
                  <a:srgbClr val="6B7785"/>
                </a:solidFill>
                <a:latin typeface="Calibri"/>
              </a:rPr>
              <a:t>STAKEHOLDERS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3017520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2E8B57"/>
                </a:solidFill>
                <a:latin typeface="Calibri"/>
              </a:rPr>
              <a:t>Green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3429000"/>
            <a:ext cx="2423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6B7785"/>
                </a:solidFill>
                <a:latin typeface="Calibri"/>
              </a:rPr>
              <a:t>Engagement on target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023360"/>
            <a:ext cx="11274552" cy="228600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411480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Summary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448056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6B7785"/>
                </a:solidFill>
                <a:latin typeface="Calibri"/>
              </a:rPr>
              <a:t>[Progress this period and key achievements]</a:t>
            </a:r>
          </a:p>
          <a:p>
            <a:pPr algn="l"/>
            <a:r>
              <a:rPr sz="1200" b="0" i="0">
                <a:solidFill>
                  <a:srgbClr val="6B7785"/>
                </a:solidFill>
                <a:latin typeface="Calibri"/>
              </a:rPr>
              <a:t>[Main concerns and corrective actions]</a:t>
            </a:r>
          </a:p>
          <a:p>
            <a:pPr algn="l"/>
            <a:r>
              <a:rPr sz="1200" b="0" i="0">
                <a:solidFill>
                  <a:srgbClr val="6B7785"/>
                </a:solidFill>
                <a:latin typeface="Calibri"/>
              </a:rPr>
              <a:t>[Decisions or support required from the Sponsor / Steering Committee]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38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8686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Milestones &amp;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DCE8F2"/>
                </a:solidFill>
                <a:latin typeface="Calibri"/>
              </a:rPr>
              <a:t>[Project Name]</a:t>
            </a:r>
          </a:p>
          <a:p>
            <a:pPr algn="r"/>
            <a:r>
              <a:rPr sz="1000" b="0" i="0">
                <a:solidFill>
                  <a:srgbClr val="DCE8F2"/>
                </a:solidFill>
                <a:latin typeface="Calibri"/>
              </a:rPr>
              <a:t>Status date: [yyyy-mm-dd]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1">
                <a:solidFill>
                  <a:srgbClr val="6B7785"/>
                </a:solidFill>
                <a:latin typeface="Calibri"/>
              </a:rPr>
              <a:t>Baseline vs forecast; variance in working days (positive = late). Source: Master Schedule (doc 07).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B8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 i="0">
                <a:solidFill>
                  <a:srgbClr val="6B7785"/>
                </a:solidFill>
                <a:latin typeface="Calibri"/>
              </a:rPr>
              <a:t>[Organization Name]  •  PRJ-2026-001-PSR  v0.1  •  Classification: 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92240"/>
            <a:ext cx="139903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00" b="1" i="0">
                <a:solidFill>
                  <a:srgbClr val="1F3A5F"/>
                </a:solidFill>
                <a:latin typeface="Calibri"/>
              </a:rPr>
              <a:t>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463040"/>
          <a:ext cx="1127455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657682"/>
                <a:gridCol w="1221409"/>
                <a:gridCol w="1503273"/>
                <a:gridCol w="939546"/>
                <a:gridCol w="939546"/>
                <a:gridCol w="3194456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/ actual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Var. (wd)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Comment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A36"/>
                          </a:solidFill>
                          <a:latin typeface="Calibri"/>
                        </a:rPr>
                        <a:t>Charter 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A36"/>
                          </a:solidFill>
                          <a:latin typeface="Calibri"/>
                        </a:rPr>
                        <a:t>G1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B7785"/>
                          </a:solidFill>
                          <a:latin typeface="Calibri"/>
                        </a:rPr>
                        <a:t>[date]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B7785"/>
                          </a:solidFill>
                          <a:latin typeface="Calibri"/>
                        </a:rPr>
                        <a:t>[date]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A3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8B57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D5EF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A36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A36"/>
                          </a:solidFill>
                          <a:latin typeface="Calibri"/>
                        </a:rPr>
                        <a:t>PMP baselined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A36"/>
                          </a:solidFill>
                          <a:latin typeface="Calibri"/>
                        </a:rPr>
                        <a:t>G2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B7785"/>
                          </a:solidFill>
                          <a:latin typeface="Calibri"/>
                        </a:rPr>
                        <a:t>[date]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B7785"/>
                          </a:solidFill>
                          <a:latin typeface="Calibri"/>
                        </a:rPr>
                        <a:t>[date]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A3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8B57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D5EFD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B7785"/>
                          </a:solidFill>
                          <a:latin typeface="Calibri"/>
                        </a:rPr>
                        <a:t>[Design complete]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B7785"/>
                          </a:solidFill>
                          <a:latin typeface="Calibri"/>
                        </a:rPr>
                        <a:t>[date]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B7785"/>
                          </a:solidFill>
                          <a:latin typeface="Calibri"/>
                        </a:rPr>
                        <a:t>[date]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A36"/>
                          </a:solidFill>
                          <a:latin typeface="Calibri"/>
                        </a:rPr>
                        <a:t>+6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8A6200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FCEF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B7785"/>
                          </a:solidFill>
                          <a:latin typeface="Calibri"/>
                        </a:rPr>
                        <a:t>[Reason / recovery]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A36"/>
                          </a:solidFill>
                          <a:latin typeface="Calibri"/>
                        </a:rPr>
                        <a:t>Final acceptance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A36"/>
                          </a:solidFill>
                          <a:latin typeface="Calibri"/>
                        </a:rPr>
                        <a:t>G4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B7785"/>
                          </a:solidFill>
                          <a:latin typeface="Calibri"/>
                        </a:rPr>
                        <a:t>[date]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B7785"/>
                          </a:solidFill>
                          <a:latin typeface="Calibri"/>
                        </a:rPr>
                        <a:t>[date]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A3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8B57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D5EFD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A36"/>
                          </a:solidFill>
                          <a:latin typeface="Calibri"/>
                        </a:rPr>
                        <a:t>Project closure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A36"/>
                          </a:solidFill>
                          <a:latin typeface="Calibri"/>
                        </a:rPr>
                        <a:t>G5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B7785"/>
                          </a:solidFill>
                          <a:latin typeface="Calibri"/>
                        </a:rPr>
                        <a:t>[date]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B7785"/>
                          </a:solidFill>
                          <a:latin typeface="Calibri"/>
                        </a:rPr>
                        <a:t>[date]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A3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8B57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D5EFD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4572000"/>
            <a:ext cx="36118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6B7785"/>
                </a:solidFill>
                <a:latin typeface="Calibri"/>
              </a:rPr>
              <a:t>SPI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32918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[0.93]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4572000"/>
            <a:ext cx="36118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466344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6B7785"/>
                </a:solidFill>
                <a:latin typeface="Calibri"/>
              </a:rPr>
              <a:t>CRITICAL PATH FLOAT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5029200"/>
            <a:ext cx="32918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[0 d]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4572000"/>
            <a:ext cx="36118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66344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6B7785"/>
                </a:solidFill>
                <a:latin typeface="Calibri"/>
              </a:rPr>
              <a:t>% COMPLETE (PLANNED / ACTUAL)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029200"/>
            <a:ext cx="32918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[45% / 42%]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38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8686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Financial &amp; Earned Value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DCE8F2"/>
                </a:solidFill>
                <a:latin typeface="Calibri"/>
              </a:rPr>
              <a:t>[Project Name]</a:t>
            </a:r>
          </a:p>
          <a:p>
            <a:pPr algn="r"/>
            <a:r>
              <a:rPr sz="1000" b="0" i="0">
                <a:solidFill>
                  <a:srgbClr val="DCE8F2"/>
                </a:solidFill>
                <a:latin typeface="Calibri"/>
              </a:rPr>
              <a:t>Status date: [yyyy-mm-dd]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1">
                <a:solidFill>
                  <a:srgbClr val="6B7785"/>
                </a:solidFill>
                <a:latin typeface="Calibri"/>
              </a:rPr>
              <a:t>All figures in CAD. Source: Project Budget (doc 09) — Cash Flow &amp; EVM sheet.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B8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 i="0">
                <a:solidFill>
                  <a:srgbClr val="6B7785"/>
                </a:solidFill>
                <a:latin typeface="Calibri"/>
              </a:rPr>
              <a:t>[Organization Name]  •  PRJ-2026-001-PSR  v0.1  •  Classification: 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92240"/>
            <a:ext cx="139903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00" b="1" i="0">
                <a:solidFill>
                  <a:srgbClr val="1F3A5F"/>
                </a:solidFill>
                <a:latin typeface="Calibr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783080" cy="1188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9FD3D1"/>
                </a:solidFill>
                <a:latin typeface="Calibri"/>
              </a:rPr>
              <a:t>BAC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74519"/>
            <a:ext cx="1554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[0]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50008" y="1463040"/>
            <a:ext cx="1783080" cy="1188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87168" y="155448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9FD3D1"/>
                </a:solidFill>
                <a:latin typeface="Calibri"/>
              </a:rPr>
              <a:t>EAC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1874519"/>
            <a:ext cx="1554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[0]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2816" y="1463040"/>
            <a:ext cx="17830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9976" y="155448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6B7785"/>
                </a:solidFill>
                <a:latin typeface="Calibri"/>
              </a:rPr>
              <a:t>CPI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9976" y="1874519"/>
            <a:ext cx="1554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Calibri"/>
              </a:rPr>
              <a:t>[1.02]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5623" y="1463040"/>
            <a:ext cx="17830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2783" y="155448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6B7785"/>
                </a:solidFill>
                <a:latin typeface="Calibri"/>
              </a:rPr>
              <a:t>SPI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2783" y="1874519"/>
            <a:ext cx="1554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Calibri"/>
              </a:rPr>
              <a:t>[0.93]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28431" y="1463040"/>
            <a:ext cx="17830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1" y="155448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6B7785"/>
                </a:solidFill>
                <a:latin typeface="Calibri"/>
              </a:rPr>
              <a:t>VAC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1" y="1874519"/>
            <a:ext cx="1554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Calibri"/>
              </a:rPr>
              <a:t>[0]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21240" y="1463040"/>
            <a:ext cx="17830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155448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6B7785"/>
                </a:solidFill>
                <a:latin typeface="Calibri"/>
              </a:rPr>
              <a:t>Reserve used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1874519"/>
            <a:ext cx="1554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Calibri"/>
              </a:rPr>
              <a:t>[0%]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2926080"/>
          <a:ext cx="11274549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430"/>
                <a:gridCol w="1293801"/>
                <a:gridCol w="1478629"/>
                <a:gridCol w="1108972"/>
                <a:gridCol w="924143"/>
                <a:gridCol w="3696574"/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To date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Previous period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Commentary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A36"/>
                          </a:solidFill>
                          <a:latin typeface="Calibri"/>
                        </a:rPr>
                        <a:t>Planned Value (PV)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7785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7785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A36"/>
                          </a:solidFill>
                          <a:latin typeface="Calibri"/>
                        </a:rPr>
                        <a:t>Earned Value (EV)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7785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7785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A36"/>
                          </a:solidFill>
                          <a:latin typeface="Calibri"/>
                        </a:rPr>
                        <a:t>Actual Cost (AC)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7785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7785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A36"/>
                          </a:solidFill>
                          <a:latin typeface="Calibri"/>
                        </a:rPr>
                        <a:t>Cost Performance Index (CPI)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7785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7785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A36"/>
                          </a:solidFill>
                          <a:latin typeface="Calibri"/>
                        </a:rPr>
                        <a:t>≥ 0.95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E8B57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D5EFD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A36"/>
                          </a:solidFill>
                          <a:latin typeface="Calibri"/>
                        </a:rPr>
                        <a:t>Schedule Performance Index (SPI)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7785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7785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A36"/>
                          </a:solidFill>
                          <a:latin typeface="Calibri"/>
                        </a:rPr>
                        <a:t>≥ 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8A6200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FCEFC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A36"/>
                          </a:solidFill>
                          <a:latin typeface="Calibri"/>
                        </a:rPr>
                        <a:t>Estimate at Completion (EAC)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7785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7785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A36"/>
                          </a:solidFill>
                          <a:latin typeface="Calibri"/>
                        </a:rPr>
                        <a:t>≤ BAC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E8B57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D5EFD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38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8686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Top Risks &amp;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DCE8F2"/>
                </a:solidFill>
                <a:latin typeface="Calibri"/>
              </a:rPr>
              <a:t>[Project Name]</a:t>
            </a:r>
          </a:p>
          <a:p>
            <a:pPr algn="r"/>
            <a:r>
              <a:rPr sz="1000" b="0" i="0">
                <a:solidFill>
                  <a:srgbClr val="DCE8F2"/>
                </a:solidFill>
                <a:latin typeface="Calibri"/>
              </a:rPr>
              <a:t>Status date: [yyyy-mm-dd]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1">
                <a:solidFill>
                  <a:srgbClr val="6B7785"/>
                </a:solidFill>
                <a:latin typeface="Calibri"/>
              </a:rPr>
              <a:t>Open risks scored ≥ 10 (High/Critical) and open High/Critical issues. Sources: docs 16 and 19.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B8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 i="0">
                <a:solidFill>
                  <a:srgbClr val="6B7785"/>
                </a:solidFill>
                <a:latin typeface="Calibri"/>
              </a:rPr>
              <a:t>[Organization Name]  •  PRJ-2026-001-PSR  v0.1  •  Classification: 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92240"/>
            <a:ext cx="139903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00" b="1" i="0">
                <a:solidFill>
                  <a:srgbClr val="1F3A5F"/>
                </a:solidFill>
                <a:latin typeface="Calibri"/>
              </a:rPr>
              <a:t>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463040"/>
          <a:ext cx="11274548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844"/>
                <a:gridCol w="715844"/>
                <a:gridCol w="3042339"/>
                <a:gridCol w="1163247"/>
                <a:gridCol w="894805"/>
                <a:gridCol w="2863378"/>
                <a:gridCol w="984286"/>
                <a:gridCol w="894805"/>
              </a:tblGrid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P×I / priority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Rating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Response / action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Due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A36"/>
                          </a:solidFill>
                          <a:latin typeface="Calibri"/>
                        </a:rPr>
                        <a:t>R-001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A3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7785"/>
                          </a:solidFill>
                          <a:latin typeface="Calibri"/>
                        </a:rPr>
                        <a:t>[Supplier delivers key component late]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A36"/>
                          </a:solidFill>
                          <a:latin typeface="Calibri"/>
                        </a:rPr>
                        <a:t>3×4 =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A36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7785"/>
                          </a:solidFill>
                          <a:latin typeface="Calibri"/>
                        </a:rPr>
                        <a:t>[Weekly check-ins; alternate supplier]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7785"/>
                          </a:solidFill>
                          <a:latin typeface="Calibri"/>
                        </a:rPr>
                        <a:t>[PM]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7785"/>
                          </a:solidFill>
                          <a:latin typeface="Calibri"/>
                        </a:rPr>
                        <a:t>[date]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A36"/>
                          </a:solidFill>
                          <a:latin typeface="Calibri"/>
                        </a:rPr>
                        <a:t>R-00x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A3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A36"/>
                          </a:solidFill>
                          <a:latin typeface="Calibri"/>
                        </a:rPr>
                        <a:t>I-001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A36"/>
                          </a:solidFill>
                          <a:latin typeface="Calibri"/>
                        </a:rPr>
                        <a:t>Issue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7785"/>
                          </a:solidFill>
                          <a:latin typeface="Calibri"/>
                        </a:rPr>
                        <a:t>[Test environment unavailable]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A36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7785"/>
                          </a:solidFill>
                          <a:latin typeface="Calibri"/>
                        </a:rPr>
                        <a:t>[Escalated to IT ops]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7785"/>
                          </a:solidFill>
                          <a:latin typeface="Calibri"/>
                        </a:rPr>
                        <a:t>[Tech Lead]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7785"/>
                          </a:solidFill>
                          <a:latin typeface="Calibri"/>
                        </a:rPr>
                        <a:t>[date]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A36"/>
                          </a:solidFill>
                          <a:latin typeface="Calibri"/>
                        </a:rPr>
                        <a:t>I-00x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A36"/>
                          </a:solidFill>
                          <a:latin typeface="Calibri"/>
                        </a:rPr>
                        <a:t>Issue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Risk profile (open risks)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937760"/>
            <a:ext cx="2697480" cy="10972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983480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57800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[n]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4937760"/>
            <a:ext cx="2697480" cy="10972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4983480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5257800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[n]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4937760"/>
            <a:ext cx="2697480" cy="1097280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983480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257800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[n]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4937760"/>
            <a:ext cx="2697480" cy="10972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4983480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5257800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[n]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38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8686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Changes &amp; Decisions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DCE8F2"/>
                </a:solidFill>
                <a:latin typeface="Calibri"/>
              </a:rPr>
              <a:t>[Project Name]</a:t>
            </a:r>
          </a:p>
          <a:p>
            <a:pPr algn="r"/>
            <a:r>
              <a:rPr sz="1000" b="0" i="0">
                <a:solidFill>
                  <a:srgbClr val="DCE8F2"/>
                </a:solidFill>
                <a:latin typeface="Calibri"/>
              </a:rPr>
              <a:t>Status date: [yyyy-mm-dd]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1">
                <a:solidFill>
                  <a:srgbClr val="6B7785"/>
                </a:solidFill>
                <a:latin typeface="Calibri"/>
              </a:rPr>
              <a:t>Change requests from the Change Log (doc 21); decisions recorded in the Decision Log (doc 23).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B8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 i="0">
                <a:solidFill>
                  <a:srgbClr val="6B7785"/>
                </a:solidFill>
                <a:latin typeface="Calibri"/>
              </a:rPr>
              <a:t>[Organization Name]  •  PRJ-2026-001-PSR  v0.1  •  Classification: 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92240"/>
            <a:ext cx="139903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00" b="1" i="0">
                <a:solidFill>
                  <a:srgbClr val="1F3A5F"/>
                </a:solidFill>
                <a:latin typeface="Calibr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Change requests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274549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3636"/>
                <a:gridCol w="4336366"/>
                <a:gridCol w="1252728"/>
                <a:gridCol w="1349091"/>
                <a:gridCol w="1445455"/>
                <a:gridCol w="1927273"/>
              </a:tblGrid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CR ID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Schedule (wd)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Cost (CAD)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Authority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A36"/>
                          </a:solidFill>
                          <a:latin typeface="Calibri"/>
                        </a:rPr>
                        <a:t>CR-001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7785"/>
                          </a:solidFill>
                          <a:latin typeface="Calibri"/>
                        </a:rPr>
                        <a:t>[Add mobile access to reporting module]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A36"/>
                          </a:solidFill>
                          <a:latin typeface="Calibri"/>
                        </a:rPr>
                        <a:t>+8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A36"/>
                          </a:solidFill>
                          <a:latin typeface="Calibri"/>
                        </a:rPr>
                        <a:t>18,000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A36"/>
                          </a:solidFill>
                          <a:latin typeface="Calibri"/>
                        </a:rPr>
                        <a:t>CCB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A36"/>
                          </a:solidFill>
                          <a:latin typeface="Calibri"/>
                        </a:rPr>
                        <a:t>Pending decision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A36"/>
                          </a:solidFill>
                          <a:latin typeface="Calibri"/>
                        </a:rPr>
                        <a:t>CR-00x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342900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Decisions required from Sponsor / Steering Committee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3794760"/>
          <a:ext cx="1127455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735"/>
                <a:gridCol w="3821882"/>
                <a:gridCol w="2866411"/>
                <a:gridCol w="2866411"/>
                <a:gridCol w="1242111"/>
              </a:tblGrid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Decision required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Options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Recommendation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Needed by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A3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7785"/>
                          </a:solidFill>
                          <a:latin typeface="Calibri"/>
                        </a:rPr>
                        <a:t>[Decision]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7785"/>
                          </a:solidFill>
                          <a:latin typeface="Calibri"/>
                        </a:rPr>
                        <a:t>[A / B]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7785"/>
                          </a:solidFill>
                          <a:latin typeface="Calibri"/>
                        </a:rPr>
                        <a:t>[Recommended option]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7785"/>
                          </a:solidFill>
                          <a:latin typeface="Calibri"/>
                        </a:rPr>
                        <a:t>[date]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A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38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8686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Accomplishments &amp; Next Period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DCE8F2"/>
                </a:solidFill>
                <a:latin typeface="Calibri"/>
              </a:rPr>
              <a:t>[Project Name]</a:t>
            </a:r>
          </a:p>
          <a:p>
            <a:pPr algn="r"/>
            <a:r>
              <a:rPr sz="1000" b="0" i="0">
                <a:solidFill>
                  <a:srgbClr val="DCE8F2"/>
                </a:solidFill>
                <a:latin typeface="Calibri"/>
              </a:rPr>
              <a:t>Status date: [yyyy-mm-dd]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B8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 i="0">
                <a:solidFill>
                  <a:srgbClr val="6B7785"/>
                </a:solidFill>
                <a:latin typeface="Calibri"/>
              </a:rPr>
              <a:t>[Organization Name]  •  PRJ-2026-001-PSR  v0.1  •  Classification: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92240"/>
            <a:ext cx="139903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00" b="1" i="0">
                <a:solidFill>
                  <a:srgbClr val="1F3A5F"/>
                </a:solidFill>
                <a:latin typeface="Calibri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559552" cy="457200"/>
          </a:xfrm>
          <a:prstGeom prst="rect">
            <a:avLst/>
          </a:prstGeom>
          <a:solidFill>
            <a:srgbClr val="138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512064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Accomplished this period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5559552" cy="4480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20240"/>
            <a:ext cx="5120640" cy="4114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6B7785"/>
                </a:solidFill>
                <a:latin typeface="Calibri"/>
              </a:rPr>
              <a:t>•  [Deliverable / milestone completed]</a:t>
            </a:r>
          </a:p>
          <a:p>
            <a:pPr algn="l"/>
            <a:r>
              <a:rPr sz="1300" b="0" i="0">
                <a:solidFill>
                  <a:srgbClr val="6B7785"/>
                </a:solidFill>
                <a:latin typeface="Calibri"/>
              </a:rPr>
              <a:t>•  [Key activity completed]</a:t>
            </a:r>
          </a:p>
          <a:p>
            <a:pPr algn="l"/>
            <a:r>
              <a:rPr sz="1300" b="0" i="0">
                <a:solidFill>
                  <a:srgbClr val="6B7785"/>
                </a:solidFill>
                <a:latin typeface="Calibri"/>
              </a:rPr>
              <a:t>•  [Stakeholder event held]</a:t>
            </a:r>
          </a:p>
          <a:p>
            <a:pPr algn="l"/>
            <a:r>
              <a:rPr sz="1300" b="0" i="0">
                <a:solidFill>
                  <a:srgbClr val="6B7785"/>
                </a:solidFill>
                <a:latin typeface="Calibri"/>
              </a:rPr>
              <a:t>•  [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280160"/>
            <a:ext cx="5559552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25880"/>
            <a:ext cx="512064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Planned for next period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737360"/>
            <a:ext cx="5559552" cy="4480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5120640" cy="4114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6B7785"/>
                </a:solidFill>
                <a:latin typeface="Calibri"/>
              </a:rPr>
              <a:t>•  [Planned deliverable / activity]</a:t>
            </a:r>
          </a:p>
          <a:p>
            <a:pPr algn="l"/>
            <a:r>
              <a:rPr sz="1300" b="0" i="0">
                <a:solidFill>
                  <a:srgbClr val="6B7785"/>
                </a:solidFill>
                <a:latin typeface="Calibri"/>
              </a:rPr>
              <a:t>•  [Upcoming milestone]</a:t>
            </a:r>
          </a:p>
          <a:p>
            <a:pPr algn="l"/>
            <a:r>
              <a:rPr sz="1300" b="0" i="0">
                <a:solidFill>
                  <a:srgbClr val="6B7785"/>
                </a:solidFill>
                <a:latin typeface="Calibri"/>
              </a:rPr>
              <a:t>•  [Upcoming decision / gate]</a:t>
            </a:r>
          </a:p>
          <a:p>
            <a:pPr algn="l"/>
            <a:r>
              <a:rPr sz="1300" b="0" i="0">
                <a:solidFill>
                  <a:srgbClr val="6B7785"/>
                </a:solidFill>
                <a:latin typeface="Calibri"/>
              </a:rPr>
              <a:t>•  [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38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8686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Appendix — Document Control &amp; RAG 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DCE8F2"/>
                </a:solidFill>
                <a:latin typeface="Calibri"/>
              </a:rPr>
              <a:t>[Project Name]</a:t>
            </a:r>
          </a:p>
          <a:p>
            <a:pPr algn="r"/>
            <a:r>
              <a:rPr sz="1000" b="0" i="0">
                <a:solidFill>
                  <a:srgbClr val="DCE8F2"/>
                </a:solidFill>
                <a:latin typeface="Calibri"/>
              </a:rPr>
              <a:t>Status date: [yyyy-mm-dd]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B8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 i="0">
                <a:solidFill>
                  <a:srgbClr val="6B7785"/>
                </a:solidFill>
                <a:latin typeface="Calibri"/>
              </a:rPr>
              <a:t>[Organization Name]  •  PRJ-2026-001-PSR  v0.1  •  Classification: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92240"/>
            <a:ext cx="139903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00" b="1" i="0">
                <a:solidFill>
                  <a:srgbClr val="1F3A5F"/>
                </a:solidFill>
                <a:latin typeface="Calibri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28016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02336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A36"/>
                          </a:solidFill>
                          <a:latin typeface="Calibri"/>
                        </a:rPr>
                        <a:t>Document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A36"/>
                          </a:solidFill>
                          <a:latin typeface="Calibri"/>
                        </a:rPr>
                        <a:t>PRJ-2026-001-PSR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A36"/>
                          </a:solidFill>
                          <a:latin typeface="Calibri"/>
                        </a:rPr>
                        <a:t>Project / ID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6B7785"/>
                          </a:solidFill>
                          <a:latin typeface="Calibri"/>
                        </a:rPr>
                        <a:t>[Project Name] / PRJ-2026-001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A36"/>
                          </a:solidFill>
                          <a:latin typeface="Calibri"/>
                        </a:rPr>
                        <a:t>Version /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A36"/>
                          </a:solidFill>
                          <a:latin typeface="Calibri"/>
                        </a:rPr>
                        <a:t>0.1 / 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A36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6B7785"/>
                          </a:solidFill>
                          <a:latin typeface="Calibri"/>
                        </a:rPr>
                        <a:t>[Project Manager]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A36"/>
                          </a:solidFill>
                          <a:latin typeface="Calibri"/>
                        </a:rPr>
                        <a:t>Approver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A36"/>
                          </a:solidFill>
                          <a:latin typeface="Calibri"/>
                        </a:rPr>
                        <a:t>Project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A36"/>
                          </a:solidFill>
                          <a:latin typeface="Calibri"/>
                        </a:rPr>
                        <a:t>Classification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A36"/>
                          </a:solidFill>
                          <a:latin typeface="Calibri"/>
                        </a:rPr>
                        <a:t>Internal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A36"/>
                          </a:solidFill>
                          <a:latin typeface="Calibri"/>
                        </a:rPr>
                        <a:t>Distribution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A36"/>
                          </a:solidFill>
                          <a:latin typeface="Calibri"/>
                        </a:rPr>
                        <a:t>Per Communication Plan (doc 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45352" y="128016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97280"/>
                <a:gridCol w="1463040"/>
                <a:gridCol w="210312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Version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Author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A36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A36"/>
                          </a:solidFill>
                          <a:latin typeface="Calibri"/>
                        </a:rPr>
                        <a:t>2026-10-27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6B7785"/>
                          </a:solidFill>
                          <a:latin typeface="Calibri"/>
                        </a:rPr>
                        <a:t>[Project Manager]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A36"/>
                          </a:solidFill>
                          <a:latin typeface="Calibri"/>
                        </a:rPr>
                        <a:t>Initial template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45352" y="3017520"/>
          <a:ext cx="5486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572000"/>
              </a:tblGrid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RAG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8B57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D5EF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A36"/>
                          </a:solidFill>
                          <a:latin typeface="Calibri"/>
                        </a:rPr>
                        <a:t>On track; within tolerance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A6200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FCEF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A36"/>
                          </a:solidFill>
                          <a:latin typeface="Calibri"/>
                        </a:rPr>
                        <a:t>At risk; tolerance threatened; PM corrective action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392B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F6D5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A36"/>
                          </a:solidFill>
                          <a:latin typeface="Calibri"/>
                        </a:rPr>
                        <a:t>Tolerance breached; escalation to Sponsor / Steering Committee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22 - Project Status Report</dc:title>
  <dc:subject>[Project Name]</dc:subject>
  <dc:creator>[Project Manager]</dc:creator>
  <cp:keywords>PRJ-2026-001-PSR; PMBOK 8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